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1463040"/>
            <a:ext cx="4023360" cy="4023360"/>
          </a:xfrm>
          <a:prstGeom prst="ellipse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365760"/>
            <a:ext cx="2926080" cy="2926080"/>
          </a:xfrm>
          <a:prstGeom prst="ellipse">
            <a:avLst/>
          </a:prstGeom>
          <a:solidFill>
            <a:srgbClr val="3B82F6">
              <a:alpha val="10000"/>
            </a:srgbClr>
          </a:solidFill>
          <a:ln w="635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4572000"/>
            <a:ext cx="1828800" cy="1828800"/>
          </a:xfrm>
          <a:prstGeom prst="ellipse">
            <a:avLst/>
          </a:prstGeom>
          <a:solidFill>
            <a:srgbClr val="A78BFA">
              <a:alpha val="10000"/>
            </a:srgbClr>
          </a:solidFill>
          <a:ln w="635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▣ AgentDesk v2.0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AgentDesk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에이전트를 위한 Project 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다수의 에이전트를 동시에 실행·모니터링·제어하는 개발자 환경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251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44622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19 · Node.js · SQLite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420624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4251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44622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 Desktop Metaphor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420624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251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46520" y="44622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Complete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89720" y="420624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4251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326880" y="44622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+ WebSocket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다수의 AI 에이전트,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지금 무슨 일이 일어나고 있나요?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6583680" cy="502920"/>
          </a:xfrm>
          <a:prstGeom prst="rect">
            <a:avLst/>
          </a:prstGeom>
          <a:noFill/>
          <a:ln w="6350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어느 에이전트가 어떤 태스크를 하는지 알 수 없다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542032"/>
            <a:ext cx="6583680" cy="502920"/>
          </a:xfrm>
          <a:prstGeom prst="rect">
            <a:avLst/>
          </a:prstGeom>
          <a:noFill/>
          <a:ln w="6350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Rules·Memory·Hooks 적용 위치 파악 불가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163824"/>
            <a:ext cx="6583680" cy="502920"/>
          </a:xfrm>
          <a:prstGeom prst="rect">
            <a:avLst/>
          </a:prstGeom>
          <a:noFill/>
          <a:ln w="6350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에이전트 간 협업 흐름 추적 불가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785616"/>
            <a:ext cx="6583680" cy="502920"/>
          </a:xfrm>
          <a:prstGeom prst="rect">
            <a:avLst/>
          </a:prstGeom>
          <a:noFill/>
          <a:ln w="6350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토큰 비용 소비 현황 가시성 없음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407408"/>
            <a:ext cx="6583680" cy="502920"/>
          </a:xfrm>
          <a:prstGeom prst="rect">
            <a:avLst/>
          </a:prstGeom>
          <a:noFill/>
          <a:ln w="6350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문제 발생 시 원인 추적 어려움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6583680" cy="502920"/>
          </a:xfrm>
          <a:prstGeom prst="rect">
            <a:avLst/>
          </a:prstGeom>
          <a:noFill/>
          <a:ln w="6350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 로컬 LLM·외부 지식베이스 연동 분산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182880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F59E0B">
              <a:alpha val="3000"/>
            </a:srgbClr>
          </a:solidFill>
          <a:ln w="10160">
            <a:solidFill>
              <a:srgbClr val="F59E0B">
                <a:alpha val="33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965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50392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AgentDesk의 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55280" y="24688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에이전트는 CLI 프로세스다.</a:t>
            </a:r>
            <a:endParaRPr lang="en-US" sz="14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프로젝트는 그 에이전트들이 일하는 OS다.</a:t>
            </a:r>
            <a:endParaRPr lang="en-US" sz="14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UI/UX는 그 OS의 컨트롤 패널이다.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네 계층으로 구성된 모듈형 아키텍처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7784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10160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6479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LAYER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React 19 + Vite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328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Zustand Store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1693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Tailwind CSS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0098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@xyflow/react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557784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10160">
            <a:solidFill>
              <a:srgbClr val="3B82F6">
                <a:alpha val="33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76479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LAYER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37960" y="21488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Node.js + Express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5328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WebSocket Hub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91693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Task Execution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330098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Workflow Scheduler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557784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10160">
            <a:solidFill>
              <a:srgbClr val="22C55E">
                <a:alpha val="33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879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45720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SQLite (better-sqlite3)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9560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Versioned Migrations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34009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File Storage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72414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Pino Logger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4023360"/>
            <a:ext cx="557784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10160">
            <a:solidFill>
              <a:srgbClr val="F59E0B">
                <a:alpha val="33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1879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 LAYER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37960" y="45720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OpenAI / Local LLM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495604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Synapse (Notion/Figma)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534009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Discord / Slack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572414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Electron (optional)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/ UX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데스크탑 메타포 기반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직관적 에이전트 제어 환경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0160">
            <a:solidFill>
              <a:srgbClr val="F59E0B">
                <a:alpha val="2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</a:rPr>
              <a:t>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Bar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077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프로젝트 전환 · 비용 · 알림 · 시계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18288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0160">
            <a:solidFill>
              <a:srgbClr val="3B82F6">
                <a:alpha val="2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82F6"/>
                </a:solidFill>
              </a:rPr>
              <a:t>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53712" y="24871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 Icons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29077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드래그 · 지글 모드 · 삭제 배지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84464" y="18288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0160">
            <a:solidFill>
              <a:srgbClr val="22C55E">
                <a:alpha val="27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67344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C55E"/>
                </a:solidFill>
              </a:rPr>
              <a:t>◫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67344" y="24871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Windows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67344" y="29077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워크플로우 · 라이브러리 · 설정 · 채팅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0160">
            <a:solidFill>
              <a:srgbClr val="A78BFA">
                <a:alpha val="2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78BFA"/>
                </a:solidFill>
              </a:rPr>
              <a:t>▦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" y="46360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Widgets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50566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에이전트 · 태스크 · 비용 · Flow Graph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70832" y="397764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0160">
            <a:solidFill>
              <a:srgbClr val="F59E0B">
                <a:alpha val="27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</a:rPr>
              <a:t>━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53712" y="46360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53712" y="50566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즐겨찾기 앱 · 실행 인디케이터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84464" y="397764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0160">
            <a:solidFill>
              <a:srgbClr val="3B82F6">
                <a:alpha val="27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67344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82F6"/>
                </a:solidFill>
              </a:rPr>
              <a:t>⌘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467344" y="46360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Shortcuts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67344" y="50566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Spotlight · Mission Control · g+key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MULTI-AGENT MONITORING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에이전트 실시간 모니터링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 Graph 시각화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685800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21408"/>
            <a:ext cx="164592" cy="16459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385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19385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코드 리뷰 — PR #127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2542032"/>
            <a:ext cx="5029200" cy="91440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2542032"/>
            <a:ext cx="3621024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880360"/>
            <a:ext cx="685800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72968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9900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990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32918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문서화 — v2.0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3593592"/>
            <a:ext cx="5029200" cy="91440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3593592"/>
            <a:ext cx="226314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931920"/>
            <a:ext cx="685800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224528"/>
            <a:ext cx="164592" cy="164592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0416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40416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43434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대기 중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0120" y="4645152"/>
            <a:ext cx="5029200" cy="91440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" y="4645152"/>
            <a:ext cx="5029200" cy="9144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983480"/>
            <a:ext cx="685800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5276088"/>
            <a:ext cx="164592" cy="16459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50932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50932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0120" y="53949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테스트 작성 — auth 모듈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0120" y="5696712"/>
            <a:ext cx="5029200" cy="91440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31" name="Shape 29"/>
          <p:cNvSpPr/>
          <p:nvPr/>
        </p:nvSpPr>
        <p:spPr>
          <a:xfrm>
            <a:off x="960120" y="5696712"/>
            <a:ext cx="1408176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2" name="Shape 30"/>
          <p:cNvSpPr/>
          <p:nvPr/>
        </p:nvSpPr>
        <p:spPr>
          <a:xfrm>
            <a:off x="7680960" y="173736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0160">
            <a:solidFill>
              <a:srgbClr val="F59E0B">
                <a:alpha val="27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1874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GRAPH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829800" y="2560320"/>
            <a:ext cx="-1097280" cy="100584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29800" y="2560320"/>
            <a:ext cx="1097280" cy="100584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32520" y="3566160"/>
            <a:ext cx="1097280" cy="100584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27080" y="3566160"/>
            <a:ext cx="-1097280" cy="100584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91472" y="237744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1C223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9760" y="244144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94192" y="338328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1C223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0" y="34472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588752" y="338328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1C223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07040" y="34472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491472" y="438912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1C2230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09760" y="445312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SYNAPSE — KNOWLEDGE BASE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Synapse 지식베이스 연동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외부 소스 → 에이전트 컨텍스트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0160">
            <a:solidFill>
              <a:srgbClr val="F59E0B">
                <a:alpha val="2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933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4505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페이지 URL로 문서 수집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82880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0160">
            <a:solidFill>
              <a:srgbClr val="A78BFA">
                <a:alpha val="2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9933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89120" y="24505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Obsidian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로컬 Vault 마크다운 수집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0160">
            <a:solidFill>
              <a:srgbClr val="3B82F6">
                <a:alpha val="27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965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4553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Figma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937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디자인 파일 컴포넌트 메타데이터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0" y="393192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0160">
            <a:solidFill>
              <a:srgbClr val="22C55E">
                <a:alpha val="2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40965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389120" y="4553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NotebookLM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120" y="4937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Notebook 소스 동기화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173736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8745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SYNAPSE FLOW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321040" y="2414016"/>
            <a:ext cx="292608" cy="292608"/>
          </a:xfrm>
          <a:prstGeom prst="ellipse">
            <a:avLst/>
          </a:prstGeom>
          <a:solidFill>
            <a:srgbClr val="1C2230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2432304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73252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소스 URL 등록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67344" y="2706624"/>
            <a:ext cx="0" cy="475488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3218688"/>
            <a:ext cx="292608" cy="292608"/>
          </a:xfrm>
          <a:prstGeom prst="ellipse">
            <a:avLst/>
          </a:prstGeom>
          <a:solidFill>
            <a:srgbClr val="1C2230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23697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32520" y="31821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자동 수집 &amp; 청크 분할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67344" y="3511296"/>
            <a:ext cx="0" cy="475488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4023360"/>
            <a:ext cx="292608" cy="292608"/>
          </a:xfrm>
          <a:prstGeom prst="ellipse">
            <a:avLst/>
          </a:prstGeom>
          <a:solidFill>
            <a:srgbClr val="1C223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4041648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32520" y="398678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임베딩 &amp; 검색 인덱스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467344" y="4315968"/>
            <a:ext cx="0" cy="475488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0" y="4828032"/>
            <a:ext cx="292608" cy="292608"/>
          </a:xfrm>
          <a:prstGeom prst="ellipse">
            <a:avLst/>
          </a:prstGeom>
          <a:solidFill>
            <a:srgbClr val="1C2230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484632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732520" y="479145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태스크 컨텍스트 주입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LLM 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로컬 LLM 자동 감지 &amp; 라우팅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비용 없는 프라이빗 추론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46304" cy="146304"/>
          </a:xfrm>
          <a:prstGeom prst="ellipse">
            <a:avLst/>
          </a:prstGeom>
          <a:solidFill>
            <a:srgbClr val="22C55E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mistral:7b-instruct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92240" y="1828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320ms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0" y="1993392"/>
            <a:ext cx="1188720" cy="310896"/>
          </a:xfrm>
          <a:prstGeom prst="rect">
            <a:avLst/>
          </a:prstGeom>
          <a:solidFill>
            <a:srgbClr val="161B22"/>
          </a:solidFill>
          <a:ln w="6350">
            <a:solidFill>
              <a:srgbClr val="22C55E">
                <a:alpha val="33000"/>
              </a:srgbClr>
            </a:solidFill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81381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971800"/>
            <a:ext cx="146304" cy="146304"/>
          </a:xfrm>
          <a:prstGeom prst="ellipse">
            <a:avLst/>
          </a:prstGeom>
          <a:solidFill>
            <a:srgbClr val="1C223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97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 Studio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2697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0" y="2862072"/>
            <a:ext cx="1188720" cy="310896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>
                <a:alpha val="33000"/>
              </a:srgbClr>
            </a:solidFill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STOPPED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447288"/>
            <a:ext cx="81381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40480"/>
            <a:ext cx="146304" cy="146304"/>
          </a:xfrm>
          <a:prstGeom prst="ellipse">
            <a:avLst/>
          </a:prstGeom>
          <a:solidFill>
            <a:srgbClr val="3B82F6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66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4640" y="3566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llama-3.1-8b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5661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280ms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3730752"/>
            <a:ext cx="1188720" cy="310896"/>
          </a:xfrm>
          <a:prstGeom prst="rect">
            <a:avLst/>
          </a:prstGeom>
          <a:solidFill>
            <a:srgbClr val="161B22"/>
          </a:solidFill>
          <a:ln w="6350">
            <a:solidFill>
              <a:srgbClr val="3B82F6">
                <a:alpha val="33000"/>
              </a:srgbClr>
            </a:solidFill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315968"/>
            <a:ext cx="81381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709160"/>
            <a:ext cx="146304" cy="146304"/>
          </a:xfrm>
          <a:prstGeom prst="ellipse">
            <a:avLst/>
          </a:prstGeom>
          <a:solidFill>
            <a:srgbClr val="1C223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434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llama.cpp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34640" y="4434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434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0" y="4599432"/>
            <a:ext cx="1188720" cy="310896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>
                <a:alpha val="33000"/>
              </a:srgbClr>
            </a:solidFill>
          </a:ln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STOPPED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5184648"/>
            <a:ext cx="81381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0" y="173736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10160">
            <a:solidFill>
              <a:srgbClr val="22C55E">
                <a:alpha val="27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18745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 ROUTING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95360" y="23317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로컬 LLM 연결 시 자동 우선 사용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95360" y="3063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미연결 시 OpenAI API fallback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95360" y="37947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모델별 파라미터 개별 조정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95360" y="45262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채팅 패널 실시간 모델 전환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STUDIO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이미지 생성 스튜디오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DALL-E 3 통합 갤러리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6858000" cy="411480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 TAB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6492240" cy="1371600"/>
          </a:xfrm>
          <a:prstGeom prst="roundRect">
            <a:avLst>
              <a:gd name="adj" fmla="val 6667"/>
            </a:avLst>
          </a:prstGeom>
          <a:solidFill>
            <a:srgbClr val="1C2230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67919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 futuristic AI control room with multiple holographic screens, dark navy theme, cinematic lighting"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C2230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136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9808" y="4114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88920" y="384048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C2230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98648" y="39136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98648" y="4114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dall-e-3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384048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1C2230"/>
          </a:solidFill>
          <a:ln w="1016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39136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47488" y="4114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1024×1024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0" y="1828800"/>
            <a:ext cx="4206240" cy="411480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10160">
            <a:solidFill>
              <a:srgbClr val="F59E0B">
                <a:alpha val="27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1965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GALLERY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0" y="2377440"/>
            <a:ext cx="1170432" cy="1097280"/>
          </a:xfrm>
          <a:prstGeom prst="roundRect">
            <a:avLst>
              <a:gd name="adj" fmla="val 6667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>
                <a:alpha val="33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27249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98280" y="2377440"/>
            <a:ext cx="1170432" cy="1097280"/>
          </a:xfrm>
          <a:prstGeom prst="roundRect">
            <a:avLst>
              <a:gd name="adj" fmla="val 6667"/>
            </a:avLst>
          </a:prstGeom>
          <a:solidFill>
            <a:srgbClr val="3B82F6">
              <a:alpha val="12000"/>
            </a:srgbClr>
          </a:solidFill>
          <a:ln w="6350">
            <a:solidFill>
              <a:srgbClr val="3B82F6">
                <a:alpha val="33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64040" y="27249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24160" y="2377440"/>
            <a:ext cx="1170432" cy="1097280"/>
          </a:xfrm>
          <a:prstGeom prst="roundRect">
            <a:avLst>
              <a:gd name="adj" fmla="val 6667"/>
            </a:avLst>
          </a:prstGeom>
          <a:solidFill>
            <a:srgbClr val="22C55E">
              <a:alpha val="12000"/>
            </a:srgbClr>
          </a:solidFill>
          <a:ln w="6350">
            <a:solidFill>
              <a:srgbClr val="22C55E">
                <a:alpha val="33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0" y="27249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772400" y="3657600"/>
            <a:ext cx="1170432" cy="1097280"/>
          </a:xfrm>
          <a:prstGeom prst="roundRect">
            <a:avLst>
              <a:gd name="adj" fmla="val 6667"/>
            </a:avLst>
          </a:prstGeom>
          <a:solidFill>
            <a:srgbClr val="A78BFA">
              <a:alpha val="12000"/>
            </a:srgbClr>
          </a:solidFill>
          <a:ln w="6350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40050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098280" y="3657600"/>
            <a:ext cx="1170432" cy="1097280"/>
          </a:xfrm>
          <a:prstGeom prst="roundRect">
            <a:avLst>
              <a:gd name="adj" fmla="val 6667"/>
            </a:avLst>
          </a:prstGeom>
          <a:solidFill>
            <a:srgbClr val="F59E0B">
              <a:alpha val="12000"/>
            </a:srgbClr>
          </a:solidFill>
          <a:ln w="6350">
            <a:solidFill>
              <a:srgbClr val="F59E0B">
                <a:alpha val="33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4040" y="40050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424160" y="3657600"/>
            <a:ext cx="1170432" cy="1097280"/>
          </a:xfrm>
          <a:prstGeom prst="roundRect">
            <a:avLst>
              <a:gd name="adj" fmla="val 6667"/>
            </a:avLst>
          </a:prstGeom>
          <a:solidFill>
            <a:srgbClr val="3B82F6">
              <a:alpha val="12000"/>
            </a:srgbClr>
          </a:solidFill>
          <a:ln w="6350">
            <a:solidFill>
              <a:srgbClr val="3B82F6">
                <a:alpha val="33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0" y="40050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772400" y="5212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images  ·  dall-e-3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DEVELOPMENT STATUS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18 완료  ✓  전체 기능 구현 완료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1–10  (Core OS)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931920" y="1691640"/>
            <a:ext cx="4754880" cy="109728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6" name="Shape 4"/>
          <p:cNvSpPr/>
          <p:nvPr/>
        </p:nvSpPr>
        <p:spPr>
          <a:xfrm>
            <a:off x="3931920" y="1691640"/>
            <a:ext cx="475488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0" y="160020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671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11–12 (Agent CLI)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2258568"/>
            <a:ext cx="4754880" cy="109728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10" name="Shape 8"/>
          <p:cNvSpPr/>
          <p:nvPr/>
        </p:nvSpPr>
        <p:spPr>
          <a:xfrm>
            <a:off x="3931920" y="2258568"/>
            <a:ext cx="475488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0" y="216712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73405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13   (FM2024 CSS)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0" y="2825496"/>
            <a:ext cx="4754880" cy="109728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14" name="Shape 12"/>
          <p:cNvSpPr/>
          <p:nvPr/>
        </p:nvSpPr>
        <p:spPr>
          <a:xfrm>
            <a:off x="3931920" y="2825496"/>
            <a:ext cx="475488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273405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3009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14   (MED Features)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3392424"/>
            <a:ext cx="4754880" cy="109728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1920" y="3392424"/>
            <a:ext cx="475488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330098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8679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15   (Image Studio)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31920" y="3959352"/>
            <a:ext cx="4754880" cy="109728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22" name="Shape 20"/>
          <p:cNvSpPr/>
          <p:nvPr/>
        </p:nvSpPr>
        <p:spPr>
          <a:xfrm>
            <a:off x="3931920" y="3959352"/>
            <a:ext cx="475488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0" y="386791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16   (Synapse KB)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31920" y="4526280"/>
            <a:ext cx="4754880" cy="109728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4526280"/>
            <a:ext cx="475488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8778240" y="44348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0017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17   (Local LLM)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31920" y="5093208"/>
            <a:ext cx="4754880" cy="109728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30" name="Shape 28"/>
          <p:cNvSpPr/>
          <p:nvPr/>
        </p:nvSpPr>
        <p:spPr>
          <a:xfrm>
            <a:off x="3931920" y="5093208"/>
            <a:ext cx="475488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8778240" y="50017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55686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18   (Flow Graph)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931920" y="5660136"/>
            <a:ext cx="4754880" cy="109728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34" name="Shape 32"/>
          <p:cNvSpPr/>
          <p:nvPr/>
        </p:nvSpPr>
        <p:spPr>
          <a:xfrm>
            <a:off x="3931920" y="5660136"/>
            <a:ext cx="4754880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8778240" y="556869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01200" y="1463040"/>
            <a:ext cx="2468880" cy="457200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0160">
            <a:solidFill>
              <a:srgbClr val="22C55E">
                <a:alpha val="27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38360" y="1627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STATS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738360" y="20848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738360" y="23408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85+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738360" y="27249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738360" y="29809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40+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738360" y="33649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Migrations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738360" y="362102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738360" y="40050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WS Events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738360" y="42611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types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738360" y="46451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Shortcuts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738360" y="49011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actions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738360" y="52852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738360" y="55412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2057400"/>
            <a:ext cx="2743200" cy="2743200"/>
          </a:xfrm>
          <a:prstGeom prst="ellipse">
            <a:avLst/>
          </a:prstGeom>
          <a:ln w="508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04488" y="1234440"/>
            <a:ext cx="4389120" cy="4389120"/>
          </a:xfrm>
          <a:prstGeom prst="ellipse">
            <a:avLst/>
          </a:prstGeom>
          <a:ln w="508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81528" y="411480"/>
            <a:ext cx="6035040" cy="6035040"/>
          </a:xfrm>
          <a:prstGeom prst="ellipse">
            <a:avLst/>
          </a:prstGeom>
          <a:ln w="508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58568" y="-411480"/>
            <a:ext cx="7680960" cy="7680960"/>
          </a:xfrm>
          <a:prstGeom prst="ellipse">
            <a:avLst/>
          </a:prstGeom>
          <a:ln w="5080">
            <a:solidFill>
              <a:srgbClr val="F59E0B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▣ AgentDesk v2.0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AgentDesk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에이전트 운영을 위한 Project OS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0" y="3931920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3B82F6">
              <a:alpha val="12000"/>
            </a:srgbClr>
          </a:solidFill>
          <a:ln w="7620">
            <a:solidFill>
              <a:srgbClr val="3B82F6">
                <a:alpha val="33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40233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3931920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22C55E">
              <a:alpha val="12000"/>
            </a:srgbClr>
          </a:solidFill>
          <a:ln w="7620">
            <a:solidFill>
              <a:srgbClr val="22C55E">
                <a:alpha val="33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40233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3931920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7620">
            <a:solidFill>
              <a:srgbClr val="F59E0B">
                <a:alpha val="33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40233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0" y="4617720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7620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47091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@xyflow/react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4617720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E11D48">
              <a:alpha val="12000"/>
            </a:srgbClr>
          </a:solidFill>
          <a:ln w="7620">
            <a:solidFill>
              <a:srgbClr val="E11D48">
                <a:alpha val="33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47091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4617720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8B949E">
              <a:alpha val="12000"/>
            </a:srgbClr>
          </a:solidFill>
          <a:ln w="7620">
            <a:solidFill>
              <a:srgbClr val="8B949E">
                <a:alpha val="33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47091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Electron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1–18 Complete  ·  85+ Components  ·  40+ API Endpoints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2026-03-17T06:43:49Z</dcterms:created>
  <dcterms:modified xsi:type="dcterms:W3CDTF">2026-03-17T06:43:49Z</dcterms:modified>
</cp:coreProperties>
</file>