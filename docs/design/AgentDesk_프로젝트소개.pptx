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194560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6EDF3"/>
                </a:solidFill>
                <a:latin typeface="Consolas"/>
              </a:defRPr>
            </a:pPr>
            <a:r>
              <a:t>▶ AgentDesk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59E0B"/>
                </a:solidFill>
                <a:latin typeface="Consolas"/>
              </a:defRPr>
            </a:pPr>
            <a:r>
              <a:t>Project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Malgun Gothic"/>
              </a:defRPr>
            </a:pPr>
            <a:r>
              <a:t>AI 에이전트로 구동되는 프로젝트 관리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Malgun Gothic"/>
              </a:defRPr>
            </a:pPr>
            <a:r>
              <a:t>어떤 팀이든 맞춤 설계하는 프로젝트 운영체제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8505A"/>
                </a:solidFill>
                <a:latin typeface="Consolas"/>
              </a:defRPr>
            </a:pPr>
            <a:r>
              <a:t>2026  ·  v2.0  · 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  <a:latin typeface="Malgun Gothic"/>
              </a:defRPr>
            </a:pPr>
            <a:r>
              <a:t>AI 시대, 프로젝트 관리의 새로운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515600" cy="1270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64008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98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949E"/>
                </a:solidFill>
                <a:latin typeface="Malgun Gothic"/>
              </a:defRPr>
            </a:pPr>
            <a:r>
              <a:t>기존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898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AI 에이전트 시대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Malgun Gothic"/>
              </a:defRPr>
            </a:pPr>
            <a:r>
              <a:t>사람이 직접 코딩, 디자인, 분석 수행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67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1671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Malgun Gothic"/>
              </a:defRPr>
            </a:pPr>
            <a:r>
              <a:t>AI 에이전트가 CLI로 자율 실행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39"/>
            <a:ext cx="105156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44367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Malgun Gothic"/>
              </a:defRPr>
            </a:pPr>
            <a:r>
              <a:t>PM이 진행 상황을 수동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94436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944367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Malgun Gothic"/>
              </a:defRPr>
            </a:pPr>
            <a:r>
              <a:t>실시간 모니터링 + 자동 리포트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7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Malgun Gothic"/>
              </a:defRPr>
            </a:pPr>
            <a:r>
              <a:t>엑셀/노션에 흩어진 리스크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72160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721607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Malgun Gothic"/>
              </a:defRPr>
            </a:pPr>
            <a:r>
              <a:t>프로젝트별 통합 리스크 추적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105156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988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Malgun Gothic"/>
              </a:defRPr>
            </a:pPr>
            <a:r>
              <a:t>배포 전 품질 게이트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498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4988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Malgun Gothic"/>
              </a:defRPr>
            </a:pPr>
            <a:r>
              <a:t>자동화된 Gate 심사 프로세스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760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Malgun Gothic"/>
              </a:defRPr>
            </a:pPr>
            <a:r>
              <a:t>프로젝트 유형마다 다른 도구 사용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276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2760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  <a:latin typeface="Malgun Gothic"/>
              </a:defRPr>
            </a:pPr>
            <a:r>
              <a:t>카테고리 템플릿으로 통일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9E0B"/>
                </a:solidFill>
                <a:latin typeface="Malgun Gothic"/>
              </a:defRPr>
            </a:pPr>
            <a:r>
              <a:t>AgentDesk는 AI 에이전트를 '팀원'으로, 프로젝트를 '운영체제'로 다루는 새로운 패러다임을 제시합니다.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  <a:latin typeface="Malgun Gothic"/>
              </a:defRPr>
            </a:pPr>
            <a:r>
              <a:t>AgentDesk란?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515600" cy="1270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4846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8100" cy="4846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59E0B"/>
                </a:solidFill>
                <a:latin typeface="Malgun Gothic"/>
              </a:rPr>
              <a:t>Project Operating System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6EDF3"/>
                </a:solidFill>
                <a:latin typeface="Malgun Gothic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6EDF3"/>
                </a:solidFill>
                <a:latin typeface="Malgun Gothic"/>
              </a:rPr>
              <a:t>AI 에이전트(Claude, GPT 등)를 CLI 프로세스로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6EDF3"/>
                </a:solidFill>
                <a:latin typeface="Malgun Gothic"/>
              </a:rPr>
              <a:t>실행하며, 프로젝트의 목표·리스크·품질 게이트·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6EDF3"/>
                </a:solidFill>
                <a:latin typeface="Malgun Gothic"/>
              </a:rPr>
              <a:t>결과물을 체계적으로 관리하는 통합 플랫폼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6EDF3"/>
                </a:solidFill>
                <a:latin typeface="Malgun Gothic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59E0B"/>
                </a:solidFill>
                <a:latin typeface="Malgun Gothic"/>
              </a:rPr>
              <a:t>▸ 에이전트 ≠ 챗봇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B949E"/>
                </a:solidFill>
                <a:latin typeface="Malgun Gothic"/>
              </a:rPr>
              <a:t>  백그라운드 CLI 프로세스로 자율 실행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6EDF3"/>
                </a:solidFill>
                <a:latin typeface="Malgun Gothic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59E0B"/>
                </a:solidFill>
                <a:latin typeface="Malgun Gothic"/>
              </a:rPr>
              <a:t>▸ 프로젝트 ≠ 태스크 리스트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B949E"/>
                </a:solidFill>
                <a:latin typeface="Malgun Gothic"/>
              </a:rPr>
              <a:t>  목표-리스크-게이트-결과물 4축 관리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6EDF3"/>
                </a:solidFill>
                <a:latin typeface="Malgun Gothic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59E0B"/>
                </a:solidFill>
                <a:latin typeface="Malgun Gothic"/>
              </a:rPr>
              <a:t>▸ 카테고리 ≠ 폴더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B949E"/>
                </a:solidFill>
                <a:latin typeface="Malgun Gothic"/>
              </a:rPr>
              <a:t>  프로젝트 유형별 KPI/리스크/게이트 스키마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219456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3810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9E0B"/>
                </a:solidFill>
                <a:latin typeface="Consolas"/>
              </a:defRPr>
            </a:pPr>
            <a:r>
              <a:t>6+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Malgun Gothic"/>
              </a:defRPr>
            </a:pPr>
            <a:r>
              <a:t>지원 AI 프로바이더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280160"/>
            <a:ext cx="219456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1280160"/>
            <a:ext cx="38100" cy="1463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  <a:latin typeface="Consolas"/>
              </a:defRPr>
            </a:pPr>
            <a:r>
              <a:t>4축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Malgun Gothic"/>
              </a:defRPr>
            </a:pPr>
            <a:r>
              <a:t>프로젝트 거버넌스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17520"/>
            <a:ext cx="219456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017520"/>
            <a:ext cx="38100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Consolas"/>
              </a:defRPr>
            </a:pPr>
            <a:r>
              <a:t>6종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Malgun Gothic"/>
              </a:defRPr>
            </a:pPr>
            <a:r>
              <a:t>프로젝트 카테고리 템플릿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017520"/>
            <a:ext cx="219456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3017520"/>
            <a:ext cx="38100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B6D4"/>
                </a:solidFill>
                <a:latin typeface="Consolas"/>
              </a:defRPr>
            </a:pPr>
            <a:r>
              <a:t>실시간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Malgun Gothic"/>
              </a:defRPr>
            </a:pPr>
            <a:r>
              <a:t>에이전트 모니터링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Malgun Gothic"/>
              </a:defRPr>
            </a:pPr>
            <a:r>
              <a:t>IT 개발 · 투자 운영 · 리서치 · 마케팅</a:t>
            </a:r>
            <a:br/>
            <a:r>
              <a:t>어떤 프로젝트 유형이든 템플릿으로 즉시 시작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  <a:latin typeface="Malgun Gothic"/>
              </a:defRPr>
            </a:pPr>
            <a:r>
              <a:t>핵심 기능 ① — 프로젝트 대시보드 (4-Quadrant)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515600" cy="1270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6032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8100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onsolas"/>
              </a:defRPr>
            </a:pPr>
            <a:r>
              <a:t>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Malgun Gothic"/>
              </a:defRPr>
            </a:pPr>
            <a:r>
              <a:t>프로젝트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핵심 목표 설정 및 진행률 추적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목표별 상태 관리 (active / completed)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프로젝트 성공 기준 정의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280160"/>
            <a:ext cx="256032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280160"/>
            <a:ext cx="38100" cy="4389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Consolas"/>
              </a:defRPr>
            </a:pPr>
            <a:r>
              <a:t>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Malgun Gothic"/>
              </a:defRPr>
            </a:pPr>
            <a:r>
              <a:t>리스크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688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위험 요소 식별 및 심각도 분류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완화 계획 수립 + 담당자 지정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자동 리스크 홀드 (심각도 기반)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280160"/>
            <a:ext cx="256032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38100" cy="4389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onsolas"/>
              </a:defRPr>
            </a:pPr>
            <a:r>
              <a:t>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Malgun Gothic"/>
              </a:defRPr>
            </a:pPr>
            <a:r>
              <a:t>품질 게이트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688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단계별 검토 체크포인트 설정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PENDING → PASSED / FAILED 심사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게이트 미통과 시 다음 단계 차단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280160"/>
            <a:ext cx="256032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280160"/>
            <a:ext cx="38100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onsolas"/>
              </a:defRPr>
            </a:pPr>
            <a:r>
              <a:t>OUTPUTS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Malgun Gothic"/>
              </a:defRPr>
            </a:pPr>
            <a:r>
              <a:t>결과물 추적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4688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산출물 정의 및 버전 관리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완료 상태 추적 (TODO → DONE)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8B949E"/>
                </a:solidFill>
                <a:latin typeface="Malgun Gothic"/>
              </a:rPr>
              <a:t>  재사용 가능한 결과물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9E0B"/>
                </a:solidFill>
                <a:latin typeface="Malgun Gothic"/>
              </a:defRPr>
            </a:pPr>
            <a:r>
              <a:t>모든 프로젝트는 이 4축으로 건강 상태를 한눈에 파악할 수 있습니다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  <a:latin typeface="Malgun Gothic"/>
              </a:defRPr>
            </a:pPr>
            <a:r>
              <a:t>핵심 기능 ② — AI 에이전트 오케스트레이션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515600" cy="1270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7373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810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에이전트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이름, 역할, 사고방식</a:t>
            </a:r>
            <a:br/>
            <a:r>
              <a:t>(페르소나) 설정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371600"/>
            <a:ext cx="17373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1371600"/>
            <a:ext cx="3810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508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CLI 프로바이더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774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Claude / GPT /</a:t>
            </a:r>
            <a:br/>
            <a:r>
              <a:t>Gemini / Ollama 선택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17373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8100" cy="2286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508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프로젝트 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3774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팀 구성 + 부서 배치</a:t>
            </a:r>
            <a:br/>
            <a:r>
              <a:t>권한 설정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17373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38100" cy="228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태스크 할당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칸반 보드에서</a:t>
            </a:r>
            <a:br/>
            <a:r>
              <a:t>드래그 앤 드롭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17373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371600"/>
            <a:ext cx="38100" cy="2286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508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자율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774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CLI 프로세스로</a:t>
            </a:r>
            <a:br/>
            <a:r>
              <a:t>백그라운드 실행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1371600"/>
            <a:ext cx="17373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0" y="1371600"/>
            <a:ext cx="3810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1508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모니터링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37744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실시간 터미널 로그</a:t>
            </a:r>
            <a:br/>
            <a:r>
              <a:t>+ Heartbeat 상태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  <a:latin typeface="Malgun Gothic"/>
              </a:defRPr>
            </a:pPr>
            <a:r>
              <a:t>실행 상태 흐름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434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2C55E"/>
                </a:solidFill>
                <a:latin typeface="Consolas"/>
              </a:defRPr>
            </a:pPr>
            <a:r>
              <a:t>queued  →  claiming  →  workspace_preparing  →  ready  →  running  →  awaiting_review  →  succeeded / failed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12080"/>
            <a:ext cx="256032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SKILLS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669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에이전트 역량 라이브러리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5212080"/>
            <a:ext cx="256032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40" y="5669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행동 제약 규칙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212080"/>
            <a:ext cx="256032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MEMORY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669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장기 컨텍스트 저장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5212080"/>
            <a:ext cx="256032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HOOKS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5669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이벤트 기반 자동화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  <a:latin typeface="Malgun Gothic"/>
              </a:defRPr>
            </a:pPr>
            <a:r>
              <a:t>주요 화면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515600" cy="1270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91840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81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onsolas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프로젝트 건강 상태 한눈에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4-Quadrant 패널</a:t>
            </a:r>
            <a:br/>
            <a:r>
              <a:t>목표 진행률 · 리스크 현황</a:t>
            </a:r>
            <a:br/>
            <a:r>
              <a:t>게이트 심사 · 결과물 추적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291840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81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onsolas"/>
              </a:defRPr>
            </a:pPr>
            <a:r>
              <a:t>WORKMAP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에이전트 실시간 활동 모니터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부서별 에이전트 상태</a:t>
            </a:r>
            <a:br/>
            <a:r>
              <a:t>실행 중 태스크 표시</a:t>
            </a:r>
            <a:br/>
            <a:r>
              <a:t>프로세스 모니터링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3291840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81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onsolas"/>
              </a:defRPr>
            </a:pPr>
            <a:r>
              <a:t>TASK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칸반 기반 태스크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상태별 컬럼 (6단계)</a:t>
            </a:r>
            <a:br/>
            <a:r>
              <a:t>필터 (부서/유형/에이전트)</a:t>
            </a:r>
            <a:br/>
            <a:r>
              <a:t>Gantt · DAG 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3291840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381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onsolas"/>
              </a:defRPr>
            </a:pPr>
            <a:r>
              <a:t>HEARTBEAT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에이전트 프로세스 모니터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Uptime · CPU 사용량</a:t>
            </a:r>
            <a:br/>
            <a:r>
              <a:t>실행 로그 뷰어</a:t>
            </a:r>
            <a:br/>
            <a:r>
              <a:t>이상 감지 알림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931920"/>
            <a:ext cx="3291840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931920"/>
            <a:ext cx="381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onsolas"/>
              </a:defRPr>
            </a:pPr>
            <a:r>
              <a:t>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지식 자산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846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Skills · Rules</a:t>
            </a:r>
            <a:br/>
            <a:r>
              <a:t>Memory · Hooks</a:t>
            </a:r>
            <a:br/>
            <a:r>
              <a:t>에이전트별/전역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931920"/>
            <a:ext cx="3291840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931920"/>
            <a:ext cx="381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onsolas"/>
              </a:defRPr>
            </a:pPr>
            <a:r>
              <a:t>SETTINGS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시스템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46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OAuth 연동</a:t>
            </a:r>
            <a:br/>
            <a:r>
              <a:t>API 키 관리</a:t>
            </a:r>
            <a:br/>
            <a:r>
              <a:t>카테고리 에디터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  <a:latin typeface="Malgun Gothic"/>
              </a:defRPr>
            </a:pPr>
            <a:r>
              <a:t>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515600" cy="1270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9184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8100" cy="45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onsolas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React  —  19.2 + TypeScript 5.9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Vite  —  7.2 — 빌드 도구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Tailwind CSS  —  4.1 — 스타일링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Framer Motion  —  12 — 애니메이션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Lucide  —  아이콘 시스템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WebSocket  —  실시간 통신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329184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8100" cy="4572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onsolas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745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Node.js  —  ≥ 22 런타임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Express  —  5.2 — 웹 프레임워크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SQLite  —  임베디드 DB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WebSocket  —  ws — 실시간 업데이트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Sharp  —  이미지 처리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20+ 테이블  —  스키마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3291840" cy="457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8100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onsolas"/>
              </a:defRPr>
            </a:pPr>
            <a:r>
              <a:t>INFRA &amp;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Electron  —  데스크톱 앱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Anthropic  —  Claude Code CLI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OpenAI  —  GPT CLI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Google  —  Gemini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Ollama  —  로컬 LLM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  Cursor  —  IDE 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9E0B"/>
                </a:solidFill>
                <a:latin typeface="Consolas"/>
              </a:defRPr>
            </a:pPr>
            <a:r>
              <a:t>218+ 컴포넌트  ·  20+ DB 테이블  ·  6개 CLI 프로바이더  ·  Open 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EDF3"/>
                </a:solidFill>
                <a:latin typeface="Malgun Gothic"/>
              </a:defRPr>
            </a:pPr>
            <a:r>
              <a:t>핵심 기능 ③ — 카테고리 템플릿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515600" cy="1270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Malgun Gothic"/>
              </a:defRPr>
            </a:pPr>
            <a:r>
              <a:t>프로젝트 유형별로 KPI · 리스크 · 게이트 · 결과물 스키마를 사전 정의하고 재사용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10312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8100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onsolas"/>
              </a:defRPr>
            </a:pPr>
            <a:r>
              <a:t>IT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소프트웨어 개발 프로젝트</a:t>
            </a:r>
            <a:br/>
            <a:r>
              <a:t>코드 품질, 테스트 커버리지</a:t>
            </a:r>
            <a:br/>
            <a:r>
              <a:t>코드 리뷰 게이트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920240"/>
            <a:ext cx="210312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920240"/>
            <a:ext cx="38100" cy="2560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onsolas"/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5603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투자 운영 프로젝트</a:t>
            </a:r>
            <a:br/>
            <a:r>
              <a:t>수익률, 리스크 지표</a:t>
            </a:r>
            <a:br/>
            <a:r>
              <a:t>실사 검토 게이트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920240"/>
            <a:ext cx="210312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920240"/>
            <a:ext cx="38100" cy="2560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onsolas"/>
              </a:defRPr>
            </a:pPr>
            <a:r>
              <a:t>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5603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리서치/전략 프로젝트</a:t>
            </a:r>
            <a:br/>
            <a:r>
              <a:t>논문 수, 인사이트 KPI</a:t>
            </a:r>
            <a:br/>
            <a:r>
              <a:t>피어 리뷰 게이트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920240"/>
            <a:ext cx="210312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920240"/>
            <a:ext cx="38100" cy="256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onsolas"/>
              </a:defRPr>
            </a:pPr>
            <a:r>
              <a:t>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603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마케팅/그로스 프로젝트</a:t>
            </a:r>
            <a:br/>
            <a:r>
              <a:t>CAC, LTV, 전환율</a:t>
            </a:r>
            <a:br/>
            <a:r>
              <a:t>캠페인 승인 게이트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920240"/>
            <a:ext cx="210312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920240"/>
            <a:ext cx="38100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CUSTOM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5603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사용자 정의 템플릿</a:t>
            </a:r>
            <a:br/>
            <a:r>
              <a:t>자유 스키마 구성</a:t>
            </a:r>
            <a:br/>
            <a:r>
              <a:t>팀 맞춤 워크플로우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846320"/>
            <a:ext cx="3810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9377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Malgun Gothic"/>
              </a:rPr>
              <a:t>버전 잠금(Version Locking) 아키텍처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8B949E"/>
                </a:solidFill>
                <a:latin typeface="Malgun Gothic"/>
              </a:rPr>
              <a:t>프로젝트 생성 시 카테고리 버전이 고정됩니다. 이후 카테고리가 업데이트되더라도 기존 프로젝트에는 영향 없음.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Malgun Gothic"/>
              </a:rPr>
              <a:t>→ 과거 프로젝트의 데이터 무결성 보장  ·  신규 프로젝트만 최신 템플릿 적용  ·  필요 시 opt-in 업그레이드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  <a:latin typeface="Malgun Gothic"/>
              </a:defRPr>
            </a:pPr>
            <a:r>
              <a:t>디자인 아이덴티티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515600" cy="1270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9E0B"/>
                </a:solidFill>
                <a:latin typeface="Consolas"/>
              </a:defRPr>
            </a:pPr>
            <a:r>
              <a:t>Professional Tool  ×  Terminal Precision  —  90% 프로페셔널, 10% 터미널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5156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81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10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10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다크 모드 기본 (#0D1117)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10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전문 도구의 집중력 + 눈의 피로 최소화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10515600" cy="6583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381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87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ACCENT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87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Amber (#F59E0B)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87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브랜드 컬러, CTA 버튼, 실행 상태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91839"/>
            <a:ext cx="105156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1839"/>
            <a:ext cx="381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649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TYPOGRAPHY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3649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Sans-serif (UI) + Mono (데이터)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36499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전문성과 정밀함의 시각적 분리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69079"/>
            <a:ext cx="10515600" cy="6583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69079"/>
            <a:ext cx="381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14223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SHAPE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422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border-radius: 0 (직각)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4223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터미널 네이티브 미학, 군더더기 없는 인터페이스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46320"/>
            <a:ext cx="105156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846320"/>
            <a:ext cx="381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9194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ANIMATION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919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부트 시퀀스 + 상태 펄스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919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터미널 기동 연출, 실행 중 에이전트 시각 피드백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623560"/>
            <a:ext cx="10515600" cy="6583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623560"/>
            <a:ext cx="381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696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LAYOUT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696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Malgun Gothic"/>
              </a:defRPr>
            </a:pPr>
            <a:r>
              <a:t>리스트/테이블 우선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696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높은 정보 밀도, Paperclip 스타일 효율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  <a:latin typeface="Malgun Gothic"/>
              </a:defRPr>
            </a:pPr>
            <a:r>
              <a:t>개발 현황 &amp; 비전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515600" cy="12700"/>
          </a:xfrm>
          <a:prstGeom prst="rect">
            <a:avLst/>
          </a:prstGeom>
          <a:solidFill>
            <a:srgbClr val="1C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Malgun Gothic"/>
              </a:defRPr>
            </a:pPr>
            <a:r>
              <a:t>완료된 개발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Consolas"/>
              </a:defRPr>
            </a:pPr>
            <a:r>
              <a:t>✓ Phase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DB 스키마 · 카테고리 시스템 · 대시보드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Consolas"/>
              </a:defRPr>
            </a:pPr>
            <a:r>
              <a:t>✓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카테고리 에디터 · 자동화 (KPI, 리스크, 결과물)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Consolas"/>
              </a:defRPr>
            </a:pPr>
            <a:r>
              <a:t>✓ Phase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TaskBoard · AgentManager 컨텍스트 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Consolas"/>
              </a:defRPr>
            </a:pPr>
            <a:r>
              <a:t>✓ 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오피스팩 제거 · 프로젝트 생성 통일화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Consolas"/>
              </a:defRPr>
            </a:pPr>
            <a:r>
              <a:t>✓ Phase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전체 화면 프로젝트 컨텍스트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향후 로드맵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475488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381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719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UI/UX 리뉴얼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11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CLI Concept 전면 적용</a:t>
            </a:r>
            <a:br/>
            <a:r>
              <a:t>디자인 토큰 통일, 피드백 시스템 교체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475488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381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816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키보드 퍼스트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Cmd+K 팔레트, 단축키 체계</a:t>
            </a:r>
            <a:br/>
            <a:r>
              <a:t>파워유저 생산성 극대화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40480"/>
            <a:ext cx="475488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840480"/>
            <a:ext cx="381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3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URL 라우팅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06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딥링크, 북마크, 뒤로가기</a:t>
            </a:r>
            <a:br/>
            <a:r>
              <a:t>웹 네이티브 네비게이션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937759"/>
            <a:ext cx="475488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937759"/>
            <a:ext cx="381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01091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모바일 반응형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30351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Malgun Gothic"/>
              </a:defRPr>
            </a:pPr>
            <a:r>
              <a:t>태블릿/모바일 대응</a:t>
            </a:r>
            <a:br/>
            <a:r>
              <a:t>현장 모니터링 지원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188720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6EDF3"/>
                </a:solidFill>
                <a:latin typeface="Consolas"/>
              </a:defRPr>
            </a:pPr>
            <a:r>
              <a:t>▶ AgentDesk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9E0B"/>
                </a:solidFill>
                <a:latin typeface="Malgun Gothic"/>
              </a:defRPr>
            </a:pPr>
            <a:r>
              <a:t>AI 에이전트를 팀원으로, 프로젝트를 운영체제로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21945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017520"/>
            <a:ext cx="38100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3154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프로젝트 중심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6118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모든 것이 프로젝트 컨텍스트 안에서 동작</a:t>
            </a:r>
            <a:br/>
            <a:r>
              <a:t>목표-리스크-게이트-결과물 4축 거버넌스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017520"/>
            <a:ext cx="21945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3017520"/>
            <a:ext cx="38100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3154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AI 네이티브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6118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에이전트가 CLI 프로세스로 자율 실행</a:t>
            </a:r>
            <a:br/>
            <a:r>
              <a:t>6개 AI 프로바이더 지원, 실시간 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21945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3017520"/>
            <a:ext cx="38100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154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템플릿 기반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6118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카테고리로 프로젝트 유형 표준화</a:t>
            </a:r>
            <a:br/>
            <a:r>
              <a:t>한번 설계, 반복 사용, 버전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3017520"/>
            <a:ext cx="21945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3017520"/>
            <a:ext cx="38100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3154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오픈소스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61188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Malgun Gothic"/>
              </a:defRPr>
            </a:pPr>
            <a:r>
              <a:t>투명한 코드, 커뮤니티 확장 가능</a:t>
            </a:r>
            <a:br/>
            <a:r>
              <a:t>React + TypeScript + 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8505A"/>
                </a:solidFill>
                <a:latin typeface="Consolas"/>
              </a:defRPr>
            </a:pPr>
            <a:r>
              <a:t>github.com/agentdesk  ·  Open Source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